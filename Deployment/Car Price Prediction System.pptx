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67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514FB-F93D-C9B8-B922-59BCC0C94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3407B-8F47-D339-50C6-B935DFBC1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C48C9-2835-9E66-7B8E-7A4048C6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A66E-F872-4198-8540-88E922A5B24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51142-6DA0-AF19-8190-CC4BA9163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F27FD-18F5-B4D2-FF2D-3B94A5BC8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DC47-4735-4C55-B3CE-195B04AC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6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B8003-E7C7-BD91-66D7-96FB5288E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068C2-3F57-E8C4-FB1B-ABFF28073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13D3A-19EB-FB0D-D7E8-86D2F7D39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A66E-F872-4198-8540-88E922A5B24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2F2BB-F463-982D-C9B2-EE519B591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1B208-1E30-6FF0-C8D3-83E9505F0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DC47-4735-4C55-B3CE-195B04AC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17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C8104-650A-DF91-5FEE-B777BD9D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01225-444F-18BD-505D-849FCBCAB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2C398-6CC9-F033-6004-29CF1A2D7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A66E-F872-4198-8540-88E922A5B24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A8DA7-0CAF-564C-E090-EE29F9C9F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ED9C5-0F67-AA82-20DB-312696C3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DC47-4735-4C55-B3CE-195B04AC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46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8EAD4-1E4E-A464-6792-F30E286D0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9075D-D301-30B0-F0AD-D0EBCA59DA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061F7-7D1E-EBAC-A21C-955C84802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AE570-6ED5-C9FE-83EA-08F2493A4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A66E-F872-4198-8540-88E922A5B24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495EF-7800-6185-995C-29322EF42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2E2A9-CC20-AE8A-132F-24D68C5EC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DC47-4735-4C55-B3CE-195B04AC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00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D62F5-6DDD-F025-4F1A-DD42BAB8D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E9BCA-E817-382B-F03A-F920AB6C1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93639-F3F8-6D38-4C10-E5521E921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741BD7-57EB-20D3-BFD8-DD55B5FA5B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B989D0-95C1-4EB2-2D3F-9B2D524B5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141139-6747-0311-0360-2080E6F3D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A66E-F872-4198-8540-88E922A5B24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0D5467-7882-E3F0-7179-7455E5FE2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7DEA21-A09B-3B49-6751-715E35A3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DC47-4735-4C55-B3CE-195B04AC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97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27CBF-8B65-0535-7DBE-654FFA398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A174C7-974B-B7DF-20D9-16A8BB93B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A66E-F872-4198-8540-88E922A5B24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0FF348-5920-04EF-C9A1-D1FF2CF70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939FB-4CCF-C425-D2D4-B046F90CF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DC47-4735-4C55-B3CE-195B04AC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97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3D5F4-C0FC-0EB9-286F-173541DD3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A66E-F872-4198-8540-88E922A5B24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E9385B-08C7-1596-2B38-80B65297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1F56A-7C4C-E686-5F3F-84A139C6F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DC47-4735-4C55-B3CE-195B04AC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08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6EB6B-3DAD-1E34-8692-CCA8EFBBD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A8362-B96A-D838-2335-8D1974EC9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ACBDC6-2C15-6398-9B71-2B20498D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42B1D-D4D7-CBBF-0A67-363B0CB57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A66E-F872-4198-8540-88E922A5B24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77BA0-DF1E-20E0-691F-F3388028E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89903-A3BB-A9A9-3B61-3F081F450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DC47-4735-4C55-B3CE-195B04AC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18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FC4C5-5E8E-8341-51A3-BC2E5A9A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450F6-4A0C-6408-2E0A-B9B92CC37F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DEA5D-A4E9-8634-07D9-FBCF1F2D4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352B1-1F3E-81CB-754D-9FAFCD23D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A66E-F872-4198-8540-88E922A5B24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3AC64-4490-B187-0887-43B5E20A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D0888-2D84-7A07-7937-527E51725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DC47-4735-4C55-B3CE-195B04AC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88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2A3DF-6C6D-12C3-A33A-9DF95322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4DBAD7-511E-C42A-56C3-D2C341C78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0B8C6-5939-5370-DF3E-0D76CBDA0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A66E-F872-4198-8540-88E922A5B24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C35EB-1FCE-A375-49F0-D355473E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45732-90AE-4E62-14DA-3D386FAB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DC47-4735-4C55-B3CE-195B04AC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35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420C2C-18A8-6DB0-1BA2-8B31CA17CE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888AF-1B47-3B56-E364-ED481898E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6C157-6AEE-0DCA-8FD3-95C65CA72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A66E-F872-4198-8540-88E922A5B24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2FA14-F409-879D-1BAF-29A0F8573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0AAE1-6CA1-EBAF-AB4C-AC4DED72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DC47-4735-4C55-B3CE-195B04AC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98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B71A87-7104-18A1-5830-B2D226F86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2943B-A5BC-65B7-D3F2-B27A9B8D4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AF613-631C-FCAD-9851-BE423C734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AEA66E-F872-4198-8540-88E922A5B24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A6FDB-86EB-D71F-1C91-8F476C18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08146-3E15-91DD-64EF-47C35A2E6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8DC47-4735-4C55-B3CE-195B04AC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65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ttom Bar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Left Stripe"/>
          <p:cNvSpPr/>
          <p:nvPr/>
        </p:nvSpPr>
        <p:spPr>
          <a:xfrm>
            <a:off x="0" y="0"/>
            <a:ext cx="91440" cy="59436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A38061-AAD6-2B26-54C1-AE98CBFD84B4}"/>
              </a:ext>
            </a:extLst>
          </p:cNvPr>
          <p:cNvSpPr txBox="1">
            <a:spLocks/>
          </p:cNvSpPr>
          <p:nvPr/>
        </p:nvSpPr>
        <p:spPr>
          <a:xfrm>
            <a:off x="914400" y="1828800"/>
            <a:ext cx="103632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4400" b="1" dirty="0">
                <a:solidFill>
                  <a:srgbClr val="FFFFFF"/>
                </a:solidFill>
                <a:latin typeface="+mj-lt"/>
              </a:rPr>
              <a:t>Car Price Prediction System</a:t>
            </a:r>
          </a:p>
        </p:txBody>
      </p:sp>
      <p:sp>
        <p:nvSpPr>
          <p:cNvPr id="12" name="Accent Line"/>
          <p:cNvSpPr/>
          <p:nvPr/>
        </p:nvSpPr>
        <p:spPr>
          <a:xfrm>
            <a:off x="914400" y="3352800"/>
            <a:ext cx="2743200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ubtitle"/>
          <p:cNvSpPr txBox="1"/>
          <p:nvPr/>
        </p:nvSpPr>
        <p:spPr>
          <a:xfrm>
            <a:off x="914400" y="355000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00" dirty="0">
                <a:solidFill>
                  <a:srgbClr val="A8C4D8"/>
                </a:solidFill>
                <a:latin typeface="+mn-lt"/>
              </a:rPr>
              <a:t>ML-Powered Vehicle Valuation  |  Architecture Overview</a:t>
            </a:r>
          </a:p>
        </p:txBody>
      </p:sp>
      <p:sp>
        <p:nvSpPr>
          <p:cNvPr id="14" name="Circle 1"/>
          <p:cNvSpPr/>
          <p:nvPr/>
        </p:nvSpPr>
        <p:spPr>
          <a:xfrm>
            <a:off x="10668000" y="6096000"/>
            <a:ext cx="182880" cy="18288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Circle 2"/>
          <p:cNvSpPr/>
          <p:nvPr/>
        </p:nvSpPr>
        <p:spPr>
          <a:xfrm>
            <a:off x="10972800" y="6096000"/>
            <a:ext cx="182880" cy="18288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Circle 3"/>
          <p:cNvSpPr/>
          <p:nvPr/>
        </p:nvSpPr>
        <p:spPr>
          <a:xfrm>
            <a:off x="11277600" y="6096000"/>
            <a:ext cx="182880" cy="18288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33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Ba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Left Stripe"/>
          <p:cNvSpPr/>
          <p:nvPr/>
        </p:nvSpPr>
        <p:spPr>
          <a:xfrm>
            <a:off x="0" y="914400"/>
            <a:ext cx="91440" cy="58521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Bottom Bar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Header Title"/>
          <p:cNvSpPr txBox="1"/>
          <p:nvPr/>
        </p:nvSpPr>
        <p:spPr>
          <a:xfrm>
            <a:off x="457200" y="18288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+mj-lt"/>
              </a:rPr>
              <a:t>User &amp; Application Layer</a:t>
            </a:r>
          </a:p>
        </p:txBody>
      </p:sp>
      <p:sp>
        <p:nvSpPr>
          <p:cNvPr id="20" name="Top Box"/>
          <p:cNvSpPr/>
          <p:nvPr/>
        </p:nvSpPr>
        <p:spPr>
          <a:xfrm>
            <a:off x="3696000" y="1911880"/>
            <a:ext cx="4800000" cy="160000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 w="12700">
            <a:solidFill>
              <a:srgbClr val="4472C4">
                <a:shade val="75000"/>
              </a:srgbClr>
            </a:solidFill>
          </a:ln>
          <a:effectLst>
            <a:outerShdw blurRad="50800" dist="2540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User</a:t>
            </a:r>
          </a:p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Web Browser</a:t>
            </a:r>
          </a:p>
        </p:txBody>
      </p:sp>
      <p:sp>
        <p:nvSpPr>
          <p:cNvPr id="21" name="Arrow"/>
          <p:cNvSpPr/>
          <p:nvPr/>
        </p:nvSpPr>
        <p:spPr>
          <a:xfrm>
            <a:off x="5867400" y="3611880"/>
            <a:ext cx="4572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Bottom Box"/>
          <p:cNvSpPr/>
          <p:nvPr/>
        </p:nvSpPr>
        <p:spPr>
          <a:xfrm>
            <a:off x="3696000" y="4169080"/>
            <a:ext cx="4800000" cy="160000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 w="12700">
            <a:solidFill>
              <a:srgbClr val="4472C4">
                <a:shade val="75000"/>
              </a:srgbClr>
            </a:solidFill>
          </a:ln>
          <a:effectLst>
            <a:outerShdw blurRad="50800" dist="2540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Web Application</a:t>
            </a:r>
          </a:p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Input Vehicle Information</a:t>
            </a:r>
          </a:p>
        </p:txBody>
      </p:sp>
    </p:spTree>
    <p:extLst>
      <p:ext uri="{BB962C8B-B14F-4D97-AF65-F5344CB8AC3E}">
        <p14:creationId xmlns:p14="http://schemas.microsoft.com/office/powerpoint/2010/main" val="758298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Ba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Left Stripe"/>
          <p:cNvSpPr/>
          <p:nvPr/>
        </p:nvSpPr>
        <p:spPr>
          <a:xfrm>
            <a:off x="0" y="914400"/>
            <a:ext cx="91440" cy="58521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Bottom Bar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Header Title"/>
          <p:cNvSpPr txBox="1"/>
          <p:nvPr/>
        </p:nvSpPr>
        <p:spPr>
          <a:xfrm>
            <a:off x="457200" y="18288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+mj-lt"/>
              </a:rPr>
              <a:t>Infrastructure Layer</a:t>
            </a:r>
          </a:p>
        </p:txBody>
      </p:sp>
      <p:sp>
        <p:nvSpPr>
          <p:cNvPr id="20" name="Top Box"/>
          <p:cNvSpPr/>
          <p:nvPr/>
        </p:nvSpPr>
        <p:spPr>
          <a:xfrm>
            <a:off x="3696000" y="1911880"/>
            <a:ext cx="4800000" cy="1600000"/>
          </a:xfrm>
          <a:prstGeom prst="roundRect">
            <a:avLst>
              <a:gd name="adj" fmla="val 10000"/>
            </a:avLst>
          </a:prstGeom>
          <a:solidFill>
            <a:srgbClr val="808080"/>
          </a:solidFill>
          <a:ln w="12700">
            <a:solidFill>
              <a:srgbClr val="808080">
                <a:shade val="75000"/>
              </a:srgbClr>
            </a:solidFill>
          </a:ln>
          <a:effectLst>
            <a:outerShdw blurRad="50800" dist="2540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AWS API Gateway</a:t>
            </a:r>
          </a:p>
        </p:txBody>
      </p:sp>
      <p:sp>
        <p:nvSpPr>
          <p:cNvPr id="21" name="Arrow"/>
          <p:cNvSpPr/>
          <p:nvPr/>
        </p:nvSpPr>
        <p:spPr>
          <a:xfrm>
            <a:off x="5867400" y="3611880"/>
            <a:ext cx="4572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Bottom Box"/>
          <p:cNvSpPr/>
          <p:nvPr/>
        </p:nvSpPr>
        <p:spPr>
          <a:xfrm>
            <a:off x="3696000" y="4169080"/>
            <a:ext cx="4800000" cy="1600000"/>
          </a:xfrm>
          <a:prstGeom prst="roundRect">
            <a:avLst>
              <a:gd name="adj" fmla="val 10000"/>
            </a:avLst>
          </a:prstGeom>
          <a:solidFill>
            <a:srgbClr val="808080"/>
          </a:solidFill>
          <a:ln w="12700">
            <a:solidFill>
              <a:srgbClr val="808080">
                <a:shade val="75000"/>
              </a:srgbClr>
            </a:solidFill>
          </a:ln>
          <a:effectLst>
            <a:outerShdw blurRad="50800" dist="2540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AWS Lambda</a:t>
            </a:r>
          </a:p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Request Handler</a:t>
            </a:r>
          </a:p>
        </p:txBody>
      </p:sp>
    </p:spTree>
    <p:extLst>
      <p:ext uri="{BB962C8B-B14F-4D97-AF65-F5344CB8AC3E}">
        <p14:creationId xmlns:p14="http://schemas.microsoft.com/office/powerpoint/2010/main" val="92404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Ba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Left Stripe"/>
          <p:cNvSpPr/>
          <p:nvPr/>
        </p:nvSpPr>
        <p:spPr>
          <a:xfrm>
            <a:off x="0" y="914400"/>
            <a:ext cx="91440" cy="58521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Bottom Bar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Header Title"/>
          <p:cNvSpPr txBox="1"/>
          <p:nvPr/>
        </p:nvSpPr>
        <p:spPr>
          <a:xfrm>
            <a:off x="457200" y="18288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+mj-lt"/>
              </a:rPr>
              <a:t>Machine Learning Components</a:t>
            </a:r>
          </a:p>
        </p:txBody>
      </p:sp>
      <p:sp>
        <p:nvSpPr>
          <p:cNvPr id="20" name="Top Box"/>
          <p:cNvSpPr/>
          <p:nvPr/>
        </p:nvSpPr>
        <p:spPr>
          <a:xfrm>
            <a:off x="3696000" y="1911880"/>
            <a:ext cx="4800000" cy="1600000"/>
          </a:xfrm>
          <a:prstGeom prst="roundRect">
            <a:avLst>
              <a:gd name="adj" fmla="val 10000"/>
            </a:avLst>
          </a:prstGeom>
          <a:solidFill>
            <a:srgbClr val="70AD47"/>
          </a:solidFill>
          <a:ln w="12700">
            <a:solidFill>
              <a:srgbClr val="70AD47">
                <a:shade val="75000"/>
              </a:srgbClr>
            </a:solidFill>
          </a:ln>
          <a:effectLst>
            <a:outerShdw blurRad="50800" dist="2540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AWS SageMaker</a:t>
            </a:r>
          </a:p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ML Endpoint</a:t>
            </a:r>
          </a:p>
        </p:txBody>
      </p:sp>
      <p:sp>
        <p:nvSpPr>
          <p:cNvPr id="21" name="Arrow"/>
          <p:cNvSpPr/>
          <p:nvPr/>
        </p:nvSpPr>
        <p:spPr>
          <a:xfrm>
            <a:off x="5867400" y="3611880"/>
            <a:ext cx="4572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Bottom Box"/>
          <p:cNvSpPr/>
          <p:nvPr/>
        </p:nvSpPr>
        <p:spPr>
          <a:xfrm>
            <a:off x="3696000" y="4169080"/>
            <a:ext cx="4800000" cy="1600000"/>
          </a:xfrm>
          <a:prstGeom prst="roundRect">
            <a:avLst>
              <a:gd name="adj" fmla="val 10000"/>
            </a:avLst>
          </a:prstGeom>
          <a:solidFill>
            <a:srgbClr val="70AD47"/>
          </a:solidFill>
          <a:ln w="12700">
            <a:solidFill>
              <a:srgbClr val="70AD47">
                <a:shade val="75000"/>
              </a:srgbClr>
            </a:solidFill>
          </a:ln>
          <a:effectLst>
            <a:outerShdw blurRad="50800" dist="2540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Car Price Model</a:t>
            </a:r>
          </a:p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Prediction</a:t>
            </a:r>
          </a:p>
        </p:txBody>
      </p:sp>
    </p:spTree>
    <p:extLst>
      <p:ext uri="{BB962C8B-B14F-4D97-AF65-F5344CB8AC3E}">
        <p14:creationId xmlns:p14="http://schemas.microsoft.com/office/powerpoint/2010/main" val="2181967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Ba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Left Stripe"/>
          <p:cNvSpPr/>
          <p:nvPr/>
        </p:nvSpPr>
        <p:spPr>
          <a:xfrm>
            <a:off x="0" y="914400"/>
            <a:ext cx="91440" cy="58521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Bottom Bar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Header Title"/>
          <p:cNvSpPr txBox="1"/>
          <p:nvPr/>
        </p:nvSpPr>
        <p:spPr>
          <a:xfrm>
            <a:off x="457200" y="18288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+mj-lt"/>
              </a:rPr>
              <a:t>Machine Learning Components</a:t>
            </a:r>
          </a:p>
        </p:txBody>
      </p:sp>
      <p:sp>
        <p:nvSpPr>
          <p:cNvPr id="20" name="Center Box"/>
          <p:cNvSpPr/>
          <p:nvPr/>
        </p:nvSpPr>
        <p:spPr>
          <a:xfrm>
            <a:off x="3200000" y="2740480"/>
            <a:ext cx="5800000" cy="2200000"/>
          </a:xfrm>
          <a:prstGeom prst="roundRect">
            <a:avLst>
              <a:gd name="adj" fmla="val 10000"/>
            </a:avLst>
          </a:prstGeom>
          <a:solidFill>
            <a:srgbClr val="70AD47"/>
          </a:solidFill>
          <a:ln w="12700">
            <a:solidFill>
              <a:srgbClr val="70AD47">
                <a:shade val="75000"/>
              </a:srgbClr>
            </a:solidFill>
          </a:ln>
          <a:effectLst>
            <a:outerShdw blurRad="76200" dist="381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+mj-lt"/>
              </a:rPr>
              <a:t>Predicted Price</a:t>
            </a:r>
          </a:p>
        </p:txBody>
      </p:sp>
    </p:spTree>
    <p:extLst>
      <p:ext uri="{BB962C8B-B14F-4D97-AF65-F5344CB8AC3E}">
        <p14:creationId xmlns:p14="http://schemas.microsoft.com/office/powerpoint/2010/main" val="2667041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ttom Bar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Left Stripe"/>
          <p:cNvSpPr/>
          <p:nvPr/>
        </p:nvSpPr>
        <p:spPr>
          <a:xfrm>
            <a:off x="0" y="0"/>
            <a:ext cx="91440" cy="59436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627EC1-3EE5-62AA-F3DA-EF158640BDFA}"/>
              </a:ext>
            </a:extLst>
          </p:cNvPr>
          <p:cNvSpPr txBox="1">
            <a:spLocks/>
          </p:cNvSpPr>
          <p:nvPr/>
        </p:nvSpPr>
        <p:spPr>
          <a:xfrm>
            <a:off x="914400" y="1828800"/>
            <a:ext cx="103632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4400" b="1" dirty="0">
                <a:solidFill>
                  <a:srgbClr val="FFFFFF"/>
                </a:solidFill>
                <a:latin typeface="+mj-lt"/>
              </a:rPr>
              <a:t>Monitoring &amp; Retraining Pipeline</a:t>
            </a:r>
          </a:p>
        </p:txBody>
      </p:sp>
      <p:sp>
        <p:nvSpPr>
          <p:cNvPr id="12" name="Accent Line"/>
          <p:cNvSpPr/>
          <p:nvPr/>
        </p:nvSpPr>
        <p:spPr>
          <a:xfrm>
            <a:off x="914400" y="3352800"/>
            <a:ext cx="2743200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ubtitle"/>
          <p:cNvSpPr txBox="1"/>
          <p:nvPr/>
        </p:nvSpPr>
        <p:spPr>
          <a:xfrm>
            <a:off x="914400" y="355000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00" dirty="0">
                <a:solidFill>
                  <a:srgbClr val="A8C4D8"/>
                </a:solidFill>
                <a:latin typeface="+mn-lt"/>
              </a:rPr>
              <a:t>Drift Detection  |  Automated Retraining  |  Redeployment</a:t>
            </a:r>
          </a:p>
        </p:txBody>
      </p:sp>
      <p:sp>
        <p:nvSpPr>
          <p:cNvPr id="14" name="Circle 1"/>
          <p:cNvSpPr/>
          <p:nvPr/>
        </p:nvSpPr>
        <p:spPr>
          <a:xfrm>
            <a:off x="10668000" y="6096000"/>
            <a:ext cx="182880" cy="18288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Circle 2"/>
          <p:cNvSpPr/>
          <p:nvPr/>
        </p:nvSpPr>
        <p:spPr>
          <a:xfrm>
            <a:off x="10972800" y="6096000"/>
            <a:ext cx="182880" cy="18288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Circle 3"/>
          <p:cNvSpPr/>
          <p:nvPr/>
        </p:nvSpPr>
        <p:spPr>
          <a:xfrm>
            <a:off x="11277600" y="6096000"/>
            <a:ext cx="182880" cy="18288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79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Ba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Left Stripe"/>
          <p:cNvSpPr/>
          <p:nvPr/>
        </p:nvSpPr>
        <p:spPr>
          <a:xfrm>
            <a:off x="0" y="914400"/>
            <a:ext cx="91440" cy="58521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Bottom Bar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Header Title"/>
          <p:cNvSpPr txBox="1"/>
          <p:nvPr/>
        </p:nvSpPr>
        <p:spPr>
          <a:xfrm>
            <a:off x="457200" y="18288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+mj-lt"/>
              </a:rPr>
              <a:t>Data Storage &amp; Monitoring</a:t>
            </a:r>
          </a:p>
        </p:txBody>
      </p:sp>
      <p:sp>
        <p:nvSpPr>
          <p:cNvPr id="20" name="Top Box"/>
          <p:cNvSpPr/>
          <p:nvPr/>
        </p:nvSpPr>
        <p:spPr>
          <a:xfrm>
            <a:off x="3696000" y="1911880"/>
            <a:ext cx="4800000" cy="160000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 w="12700">
            <a:solidFill>
              <a:srgbClr val="ED7D31">
                <a:shade val="75000"/>
              </a:srgbClr>
            </a:solidFill>
          </a:ln>
          <a:effectLst>
            <a:outerShdw blurRad="50800" dist="2540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Amazon S3</a:t>
            </a:r>
          </a:p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Data Storage</a:t>
            </a:r>
          </a:p>
        </p:txBody>
      </p:sp>
      <p:sp>
        <p:nvSpPr>
          <p:cNvPr id="21" name="Arrow"/>
          <p:cNvSpPr/>
          <p:nvPr/>
        </p:nvSpPr>
        <p:spPr>
          <a:xfrm>
            <a:off x="5867400" y="3611880"/>
            <a:ext cx="4572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Bottom Box"/>
          <p:cNvSpPr/>
          <p:nvPr/>
        </p:nvSpPr>
        <p:spPr>
          <a:xfrm>
            <a:off x="3696000" y="4169080"/>
            <a:ext cx="4800000" cy="1600000"/>
          </a:xfrm>
          <a:prstGeom prst="roundRect">
            <a:avLst>
              <a:gd name="adj" fmla="val 10000"/>
            </a:avLst>
          </a:prstGeom>
          <a:solidFill>
            <a:srgbClr val="7030A0"/>
          </a:solidFill>
          <a:ln w="12700">
            <a:solidFill>
              <a:srgbClr val="7030A0">
                <a:shade val="75000"/>
              </a:srgbClr>
            </a:solidFill>
          </a:ln>
          <a:effectLst>
            <a:outerShdw blurRad="50800" dist="2540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CloudWatch</a:t>
            </a:r>
          </a:p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Monitoring</a:t>
            </a:r>
          </a:p>
        </p:txBody>
      </p:sp>
    </p:spTree>
    <p:extLst>
      <p:ext uri="{BB962C8B-B14F-4D97-AF65-F5344CB8AC3E}">
        <p14:creationId xmlns:p14="http://schemas.microsoft.com/office/powerpoint/2010/main" val="2536627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Ba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Left Stripe"/>
          <p:cNvSpPr/>
          <p:nvPr/>
        </p:nvSpPr>
        <p:spPr>
          <a:xfrm>
            <a:off x="0" y="914400"/>
            <a:ext cx="91440" cy="58521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Bottom Bar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Header Title"/>
          <p:cNvSpPr txBox="1"/>
          <p:nvPr/>
        </p:nvSpPr>
        <p:spPr>
          <a:xfrm>
            <a:off x="457200" y="18288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+mj-lt"/>
              </a:rPr>
              <a:t>Drift Detection &amp; Retraining</a:t>
            </a:r>
          </a:p>
        </p:txBody>
      </p:sp>
      <p:sp>
        <p:nvSpPr>
          <p:cNvPr id="20" name="Top Box"/>
          <p:cNvSpPr/>
          <p:nvPr/>
        </p:nvSpPr>
        <p:spPr>
          <a:xfrm>
            <a:off x="3696000" y="1911880"/>
            <a:ext cx="4800000" cy="1600000"/>
          </a:xfrm>
          <a:prstGeom prst="roundRect">
            <a:avLst>
              <a:gd name="adj" fmla="val 10000"/>
            </a:avLst>
          </a:prstGeom>
          <a:solidFill>
            <a:srgbClr val="7030A0"/>
          </a:solidFill>
          <a:ln w="12700">
            <a:solidFill>
              <a:srgbClr val="7030A0">
                <a:shade val="75000"/>
              </a:srgbClr>
            </a:solidFill>
          </a:ln>
          <a:effectLst>
            <a:outerShdw blurRad="50800" dist="2540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Model Review</a:t>
            </a:r>
          </a:p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Data Drift Check</a:t>
            </a:r>
          </a:p>
        </p:txBody>
      </p:sp>
      <p:sp>
        <p:nvSpPr>
          <p:cNvPr id="21" name="Arrow"/>
          <p:cNvSpPr/>
          <p:nvPr/>
        </p:nvSpPr>
        <p:spPr>
          <a:xfrm>
            <a:off x="5867400" y="3611880"/>
            <a:ext cx="4572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Bottom Box"/>
          <p:cNvSpPr/>
          <p:nvPr/>
        </p:nvSpPr>
        <p:spPr>
          <a:xfrm>
            <a:off x="3696000" y="4169080"/>
            <a:ext cx="4800000" cy="1600000"/>
          </a:xfrm>
          <a:prstGeom prst="roundRect">
            <a:avLst>
              <a:gd name="adj" fmla="val 10000"/>
            </a:avLst>
          </a:prstGeom>
          <a:solidFill>
            <a:srgbClr val="7030A0"/>
          </a:solidFill>
          <a:ln w="12700">
            <a:solidFill>
              <a:srgbClr val="7030A0">
                <a:shade val="75000"/>
              </a:srgbClr>
            </a:solidFill>
          </a:ln>
          <a:effectLst>
            <a:outerShdw blurRad="50800" dist="2540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Retraining</a:t>
            </a:r>
          </a:p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3192988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Ba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Left Stripe"/>
          <p:cNvSpPr/>
          <p:nvPr/>
        </p:nvSpPr>
        <p:spPr>
          <a:xfrm>
            <a:off x="0" y="914400"/>
            <a:ext cx="91440" cy="58521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Bottom Bar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Header Title"/>
          <p:cNvSpPr txBox="1"/>
          <p:nvPr/>
        </p:nvSpPr>
        <p:spPr>
          <a:xfrm>
            <a:off x="457200" y="18288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+mj-lt"/>
              </a:rPr>
              <a:t>Model Update &amp; Redeployment</a:t>
            </a:r>
          </a:p>
        </p:txBody>
      </p:sp>
      <p:sp>
        <p:nvSpPr>
          <p:cNvPr id="20" name="Top Box"/>
          <p:cNvSpPr/>
          <p:nvPr/>
        </p:nvSpPr>
        <p:spPr>
          <a:xfrm>
            <a:off x="3696000" y="1911880"/>
            <a:ext cx="4800000" cy="1600000"/>
          </a:xfrm>
          <a:prstGeom prst="roundRect">
            <a:avLst>
              <a:gd name="adj" fmla="val 10000"/>
            </a:avLst>
          </a:prstGeom>
          <a:solidFill>
            <a:srgbClr val="7030A0"/>
          </a:solidFill>
          <a:ln w="12700">
            <a:solidFill>
              <a:srgbClr val="7030A0">
                <a:shade val="75000"/>
              </a:srgbClr>
            </a:solidFill>
          </a:ln>
          <a:effectLst>
            <a:outerShdw blurRad="50800" dist="2540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New Model</a:t>
            </a:r>
          </a:p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Artifact</a:t>
            </a:r>
          </a:p>
        </p:txBody>
      </p:sp>
      <p:sp>
        <p:nvSpPr>
          <p:cNvPr id="21" name="Arrow"/>
          <p:cNvSpPr/>
          <p:nvPr/>
        </p:nvSpPr>
        <p:spPr>
          <a:xfrm>
            <a:off x="5867400" y="3611880"/>
            <a:ext cx="4572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Bottom Box"/>
          <p:cNvSpPr/>
          <p:nvPr/>
        </p:nvSpPr>
        <p:spPr>
          <a:xfrm>
            <a:off x="3696000" y="4169080"/>
            <a:ext cx="4800000" cy="1600000"/>
          </a:xfrm>
          <a:prstGeom prst="roundRect">
            <a:avLst>
              <a:gd name="adj" fmla="val 10000"/>
            </a:avLst>
          </a:prstGeom>
          <a:solidFill>
            <a:srgbClr val="7030A0"/>
          </a:solidFill>
          <a:ln w="12700">
            <a:solidFill>
              <a:srgbClr val="7030A0">
                <a:shade val="75000"/>
              </a:srgbClr>
            </a:solidFill>
          </a:ln>
          <a:effectLst>
            <a:outerShdw blurRad="50800" dist="2540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SageMaker</a:t>
            </a:r>
          </a:p>
          <a:p>
            <a:pPr algn="ctr"/>
            <a:r>
              <a:rPr lang="en-US" sz="2400" b="1" dirty="0">
                <a:solidFill>
                  <a:srgbClr val="FFFFFF"/>
                </a:solidFill>
                <a:latin typeface="+mj-lt"/>
              </a:rPr>
              <a:t>Redeployment</a:t>
            </a:r>
          </a:p>
        </p:txBody>
      </p:sp>
    </p:spTree>
    <p:extLst>
      <p:ext uri="{BB962C8B-B14F-4D97-AF65-F5344CB8AC3E}">
        <p14:creationId xmlns:p14="http://schemas.microsoft.com/office/powerpoint/2010/main" val="2552953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Bar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Left Stripe"/>
          <p:cNvSpPr/>
          <p:nvPr/>
        </p:nvSpPr>
        <p:spPr>
          <a:xfrm>
            <a:off x="0" y="914400"/>
            <a:ext cx="91440" cy="58521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Bottom Bar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Header Title"/>
          <p:cNvSpPr txBox="1"/>
          <p:nvPr/>
        </p:nvSpPr>
        <p:spPr>
          <a:xfrm>
            <a:off x="457200" y="182880"/>
            <a:ext cx="11277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+mj-lt"/>
              </a:rPr>
              <a:t>Color Legend</a:t>
            </a:r>
          </a:p>
        </p:txBody>
      </p:sp>
      <p:sp>
        <p:nvSpPr>
          <p:cNvPr id="14" name="Legend Panel"/>
          <p:cNvSpPr/>
          <p:nvPr/>
        </p:nvSpPr>
        <p:spPr>
          <a:xfrm>
            <a:off x="2286000" y="1200000"/>
            <a:ext cx="7620000" cy="5200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0E4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" name="Blue Swatch"/>
          <p:cNvSpPr/>
          <p:nvPr/>
        </p:nvSpPr>
        <p:spPr>
          <a:xfrm>
            <a:off x="2900000" y="1650000"/>
            <a:ext cx="550000" cy="55000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  <a:effectLst>
            <a:outerShdw blurRad="38100" dist="19050" dir="5400000" algn="ctr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Blue Label"/>
          <p:cNvSpPr txBox="1"/>
          <p:nvPr/>
        </p:nvSpPr>
        <p:spPr>
          <a:xfrm>
            <a:off x="3700000" y="1650000"/>
            <a:ext cx="580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 dirty="0">
                <a:solidFill>
                  <a:srgbClr val="0E2841"/>
                </a:solidFill>
                <a:latin typeface="+mj-lt"/>
              </a:rPr>
              <a:t>User &amp; Application Layer</a:t>
            </a:r>
          </a:p>
        </p:txBody>
      </p:sp>
      <p:sp>
        <p:nvSpPr>
          <p:cNvPr id="102" name="Gray Swatch"/>
          <p:cNvSpPr/>
          <p:nvPr/>
        </p:nvSpPr>
        <p:spPr>
          <a:xfrm>
            <a:off x="2900000" y="2500000"/>
            <a:ext cx="550000" cy="55000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>
            <a:noFill/>
          </a:ln>
          <a:effectLst>
            <a:outerShdw blurRad="38100" dist="19050" dir="5400000" algn="ctr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3" name="Gray Label"/>
          <p:cNvSpPr txBox="1"/>
          <p:nvPr/>
        </p:nvSpPr>
        <p:spPr>
          <a:xfrm>
            <a:off x="3700000" y="2500000"/>
            <a:ext cx="580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 dirty="0">
                <a:solidFill>
                  <a:srgbClr val="0E2841"/>
                </a:solidFill>
                <a:latin typeface="+mj-lt"/>
              </a:rPr>
              <a:t>Infrastructure Layer</a:t>
            </a:r>
          </a:p>
        </p:txBody>
      </p:sp>
      <p:sp>
        <p:nvSpPr>
          <p:cNvPr id="104" name="Green Swatch"/>
          <p:cNvSpPr/>
          <p:nvPr/>
        </p:nvSpPr>
        <p:spPr>
          <a:xfrm>
            <a:off x="2900000" y="3350000"/>
            <a:ext cx="550000" cy="550000"/>
          </a:xfrm>
          <a:prstGeom prst="roundRect">
            <a:avLst>
              <a:gd name="adj" fmla="val 16667"/>
            </a:avLst>
          </a:prstGeom>
          <a:solidFill>
            <a:srgbClr val="70AD47"/>
          </a:solidFill>
          <a:ln>
            <a:noFill/>
          </a:ln>
          <a:effectLst>
            <a:outerShdw blurRad="38100" dist="19050" dir="5400000" algn="ctr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5" name="Green Label"/>
          <p:cNvSpPr txBox="1"/>
          <p:nvPr/>
        </p:nvSpPr>
        <p:spPr>
          <a:xfrm>
            <a:off x="3700000" y="3350000"/>
            <a:ext cx="580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 dirty="0">
                <a:solidFill>
                  <a:srgbClr val="0E2841"/>
                </a:solidFill>
                <a:latin typeface="+mj-lt"/>
              </a:rPr>
              <a:t>Machine Learning Components</a:t>
            </a:r>
          </a:p>
        </p:txBody>
      </p:sp>
      <p:sp>
        <p:nvSpPr>
          <p:cNvPr id="106" name="Orange Swatch"/>
          <p:cNvSpPr/>
          <p:nvPr/>
        </p:nvSpPr>
        <p:spPr>
          <a:xfrm>
            <a:off x="2900000" y="4200000"/>
            <a:ext cx="550000" cy="550000"/>
          </a:xfrm>
          <a:prstGeom prst="roundRect">
            <a:avLst>
              <a:gd name="adj" fmla="val 16667"/>
            </a:avLst>
          </a:prstGeom>
          <a:solidFill>
            <a:srgbClr val="ED7D31"/>
          </a:solidFill>
          <a:ln>
            <a:noFill/>
          </a:ln>
          <a:effectLst>
            <a:outerShdw blurRad="38100" dist="19050" dir="5400000" algn="ctr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7" name="Orange Label"/>
          <p:cNvSpPr txBox="1"/>
          <p:nvPr/>
        </p:nvSpPr>
        <p:spPr>
          <a:xfrm>
            <a:off x="3700000" y="4200000"/>
            <a:ext cx="580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 dirty="0">
                <a:solidFill>
                  <a:srgbClr val="0E2841"/>
                </a:solidFill>
                <a:latin typeface="+mj-lt"/>
              </a:rPr>
              <a:t>Data Storage</a:t>
            </a:r>
          </a:p>
        </p:txBody>
      </p:sp>
      <p:sp>
        <p:nvSpPr>
          <p:cNvPr id="108" name="Purple Swatch"/>
          <p:cNvSpPr/>
          <p:nvPr/>
        </p:nvSpPr>
        <p:spPr>
          <a:xfrm>
            <a:off x="2900000" y="5050000"/>
            <a:ext cx="550000" cy="550000"/>
          </a:xfrm>
          <a:prstGeom prst="roundRect">
            <a:avLst>
              <a:gd name="adj" fmla="val 16667"/>
            </a:avLst>
          </a:prstGeom>
          <a:solidFill>
            <a:srgbClr val="7030A0"/>
          </a:solidFill>
          <a:ln>
            <a:noFill/>
          </a:ln>
          <a:effectLst>
            <a:outerShdw blurRad="38100" dist="19050" dir="5400000" algn="ctr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9" name="Purple Label"/>
          <p:cNvSpPr txBox="1"/>
          <p:nvPr/>
        </p:nvSpPr>
        <p:spPr>
          <a:xfrm>
            <a:off x="3700000" y="5050000"/>
            <a:ext cx="580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 dirty="0">
                <a:solidFill>
                  <a:srgbClr val="0E2841"/>
                </a:solidFill>
                <a:latin typeface="+mj-lt"/>
              </a:rPr>
              <a:t>Monitoring &amp; MLOps</a:t>
            </a:r>
          </a:p>
        </p:txBody>
      </p:sp>
    </p:spTree>
    <p:extLst>
      <p:ext uri="{BB962C8B-B14F-4D97-AF65-F5344CB8AC3E}">
        <p14:creationId xmlns:p14="http://schemas.microsoft.com/office/powerpoint/2010/main" val="1072572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104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Lawrence</dc:creator>
  <cp:lastModifiedBy>Christopher Lawrence</cp:lastModifiedBy>
  <cp:revision>3</cp:revision>
  <dcterms:created xsi:type="dcterms:W3CDTF">2026-05-31T23:35:41Z</dcterms:created>
  <dcterms:modified xsi:type="dcterms:W3CDTF">2026-06-01T00:43:28Z</dcterms:modified>
</cp:coreProperties>
</file>